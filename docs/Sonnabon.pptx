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 people wanted</c:v>
                </c:pt>
              </c:strCache>
            </c:strRef>
          </c:tx>
          <c:spPr>
            <a:solidFill>
              <a:srgbClr val="E8A3B4"/>
            </a:solidFill>
            <a:ln w="38100" cap="flat">
              <a:solidFill>
                <a:srgbClr val="E8A3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B4"/>
              </a:solidFill>
              <a:ln w="9525" cap="flat">
                <a:solidFill>
                  <a:srgbClr val="E8A3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07h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09h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11h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13h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15h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17h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19h</c:v>
                  </c:pt>
                  <c:pt idx="25">
                    <c:v> 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1.1</c:v>
                </c:pt>
                <c:pt idx="1">
                  <c:v>2.3</c:v>
                </c:pt>
                <c:pt idx="2">
                  <c:v>5.3</c:v>
                </c:pt>
                <c:pt idx="3">
                  <c:v>8.1</c:v>
                </c:pt>
                <c:pt idx="4">
                  <c:v>12.4</c:v>
                </c:pt>
                <c:pt idx="5">
                  <c:v>17.9</c:v>
                </c:pt>
                <c:pt idx="6">
                  <c:v>24.5</c:v>
                </c:pt>
                <c:pt idx="7">
                  <c:v>32.8</c:v>
                </c:pt>
                <c:pt idx="8">
                  <c:v>41.7</c:v>
                </c:pt>
                <c:pt idx="9">
                  <c:v>48.7</c:v>
                </c:pt>
                <c:pt idx="10">
                  <c:v>54</c:v>
                </c:pt>
                <c:pt idx="11">
                  <c:v>60.1</c:v>
                </c:pt>
                <c:pt idx="12">
                  <c:v>67.1</c:v>
                </c:pt>
                <c:pt idx="13">
                  <c:v>75.8</c:v>
                </c:pt>
                <c:pt idx="14">
                  <c:v>86.2</c:v>
                </c:pt>
                <c:pt idx="15">
                  <c:v>96.2</c:v>
                </c:pt>
                <c:pt idx="16">
                  <c:v>104.7</c:v>
                </c:pt>
                <c:pt idx="17">
                  <c:v>112.3</c:v>
                </c:pt>
                <c:pt idx="18">
                  <c:v>118</c:v>
                </c:pt>
                <c:pt idx="19">
                  <c:v>122.1</c:v>
                </c:pt>
                <c:pt idx="20">
                  <c:v>125.3</c:v>
                </c:pt>
                <c:pt idx="21">
                  <c:v>128.1</c:v>
                </c:pt>
                <c:pt idx="22">
                  <c:v>129.6</c:v>
                </c:pt>
                <c:pt idx="23">
                  <c:v>130.8</c:v>
                </c:pt>
                <c:pt idx="24">
                  <c:v>132</c:v>
                </c:pt>
                <c:pt idx="25">
                  <c:v>132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What she sold</c:v>
                </c:pt>
              </c:strCache>
            </c:strRef>
          </c:tx>
          <c:spPr>
            <a:solidFill>
              <a:srgbClr val="22384C"/>
            </a:solidFill>
            <a:ln w="38100" cap="flat">
              <a:solidFill>
                <a:srgbClr val="223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2384C"/>
              </a:solidFill>
              <a:ln w="9525" cap="flat">
                <a:solidFill>
                  <a:srgbClr val="223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07h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09h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11h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13h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15h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17h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19h</c:v>
                  </c:pt>
                  <c:pt idx="25">
                    <c:v> 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9</c:v>
                </c:pt>
                <c:pt idx="4">
                  <c:v>12</c:v>
                </c:pt>
                <c:pt idx="5">
                  <c:v>16</c:v>
                </c:pt>
                <c:pt idx="6">
                  <c:v>21</c:v>
                </c:pt>
                <c:pt idx="7">
                  <c:v>30</c:v>
                </c:pt>
                <c:pt idx="8">
                  <c:v>40</c:v>
                </c:pt>
                <c:pt idx="9">
                  <c:v>46</c:v>
                </c:pt>
                <c:pt idx="10">
                  <c:v>53</c:v>
                </c:pt>
                <c:pt idx="11">
                  <c:v>60</c:v>
                </c:pt>
                <c:pt idx="12">
                  <c:v>60</c:v>
                </c:pt>
                <c:pt idx="13">
                  <c:v>60</c:v>
                </c:pt>
                <c:pt idx="14">
                  <c:v>60</c:v>
                </c:pt>
                <c:pt idx="15">
                  <c:v>60</c:v>
                </c:pt>
                <c:pt idx="16">
                  <c:v>60</c:v>
                </c:pt>
                <c:pt idx="17">
                  <c:v>60</c:v>
                </c:pt>
                <c:pt idx="18">
                  <c:v>60</c:v>
                </c:pt>
                <c:pt idx="19">
                  <c:v>60</c:v>
                </c:pt>
                <c:pt idx="20">
                  <c:v>60</c:v>
                </c:pt>
                <c:pt idx="21">
                  <c:v>60</c:v>
                </c:pt>
                <c:pt idx="22">
                  <c:v>60</c:v>
                </c:pt>
                <c:pt idx="23">
                  <c:v>60</c:v>
                </c:pt>
                <c:pt idx="24">
                  <c:v>60</c:v>
                </c:pt>
                <c:pt idx="25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6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12700" cap="flat">
              <a:solidFill>
                <a:srgbClr val="E4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718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DCE6E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erm\OneDrive\Bureau\TBI\ui\assets\f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87168" y="2157984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SONNABON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2542032" y="307238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 and planning manager a small bakery cannot afford.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0" y="3858768"/>
            <a:ext cx="777240" cy="36576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6" name="Text 3"/>
          <p:cNvSpPr/>
          <p:nvPr/>
        </p:nvSpPr>
        <p:spPr>
          <a:xfrm>
            <a:off x="2542032" y="407822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E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Agents for Humans   ·   Professional Agents   ·   Strands Agents SDK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STRUGGLE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Sarah closed an hour ago. She opened at four.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22384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48716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21:14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841248" y="373075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decisions that decide</a:t>
            </a:r>
            <a:endParaRPr lang="en-US" sz="135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this shop makes money</a:t>
            </a:r>
            <a:endParaRPr lang="en-US" sz="135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still not been made.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230368" y="2084832"/>
            <a:ext cx="45720" cy="859536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10" name="Text 8"/>
          <p:cNvSpPr/>
          <p:nvPr/>
        </p:nvSpPr>
        <p:spPr>
          <a:xfrm>
            <a:off x="5504688" y="203911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bake tomorrow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04688" y="23957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products. From memory.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30368" y="3182112"/>
            <a:ext cx="45720" cy="859536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13" name="Text 11"/>
          <p:cNvSpPr/>
          <p:nvPr/>
        </p:nvSpPr>
        <p:spPr>
          <a:xfrm>
            <a:off x="5504688" y="313639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order, and by when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04688" y="34930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suppliers. Four deadlines.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30368" y="4279392"/>
            <a:ext cx="45720" cy="859536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423367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04688" y="459028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in October's post. It will not happen.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04688" y="546811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trained her for any of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HAS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thing already exists, and arrives every day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51560" y="2011680"/>
            <a:ext cx="301752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94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SARAH'S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25880" y="25237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no. 1204        08:14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25880" y="2798064"/>
            <a:ext cx="2468880" cy="0"/>
          </a:xfrm>
          <a:prstGeom prst="line">
            <a:avLst/>
          </a:prstGeom>
          <a:noFill/>
          <a:ln w="12700">
            <a:solidFill>
              <a:srgbClr val="DC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9077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Croissant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907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31821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Coffee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3182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34564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Cinnamon roll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3456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25880" y="3803904"/>
            <a:ext cx="2468880" cy="0"/>
          </a:xfrm>
          <a:prstGeom prst="line">
            <a:avLst/>
          </a:prstGeom>
          <a:noFill/>
          <a:ln w="12700">
            <a:solidFill>
              <a:srgbClr val="DC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9136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9136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450 of these a day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04825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Sonnabon is given nothing else.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120640" y="2651760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system. No spreadsheet. No forms.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0640" y="3438144"/>
            <a:ext cx="6492240" cy="1481328"/>
          </a:xfrm>
          <a:prstGeom prst="roundRect">
            <a:avLst>
              <a:gd name="adj" fmla="val 6173"/>
            </a:avLst>
          </a:prstGeom>
          <a:solidFill>
            <a:srgbClr val="E7EF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36576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the time, not just the date.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4114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sold forty” and “we ran out at ten past ten”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 the same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SHE SOLD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Sold out looks like a good day</a:t>
            </a:r>
            <a:endParaRPr lang="en-US" sz="3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828800"/>
          <a:ext cx="7498080" cy="3675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041648" y="2139696"/>
            <a:ext cx="0" cy="2505456"/>
          </a:xfrm>
          <a:prstGeom prst="line">
            <a:avLst/>
          </a:prstGeom>
          <a:noFill/>
          <a:ln w="19050">
            <a:solidFill>
              <a:srgbClr val="CD395F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133088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39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out 12:51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21040" y="19568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820656" y="20299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sold. The shelf was empty.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21040" y="26334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0656" y="270662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wanted one.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21040" y="33101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D3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20656" y="33832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with nothing.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3986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D3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€233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20656" y="40599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margin walked out.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21040" y="46634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D3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7h 09m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820656" y="47365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nothing on the tray.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5742432"/>
            <a:ext cx="11064240" cy="768096"/>
          </a:xfrm>
          <a:prstGeom prst="roundRect">
            <a:avLst>
              <a:gd name="adj" fmla="val 11905"/>
            </a:avLst>
          </a:prstGeom>
          <a:solidFill>
            <a:srgbClr val="22384C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742432"/>
            <a:ext cx="11064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till counts what leaves the shelf. It cannot count who left without buying.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she hires one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timestamps, works out what really ran out, and plans from that.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414016"/>
            <a:ext cx="532180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414016"/>
            <a:ext cx="5321808" cy="73152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33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30540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till at every close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36027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ran 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4151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tomorrow's bake, product by product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414016"/>
            <a:ext cx="532180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414016"/>
            <a:ext cx="5321808" cy="73152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15" name="Text 13"/>
          <p:cNvSpPr/>
          <p:nvPr/>
        </p:nvSpPr>
        <p:spPr>
          <a:xfrm>
            <a:off x="6620256" y="26334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0256" y="30540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calendar and every run-up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0256" y="36027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to order, and when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0256" y="4151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person their list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5120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2384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303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emails her only when a decision needs a person.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5742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orders, never agrees a price, never touches a supplier.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file in, one decision out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234440" y="1810512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E7EFF7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190195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GIVEN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81328" y="21762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sale   ·   about 450 a day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 rot="10800000">
            <a:off x="5193792" y="2601468"/>
            <a:ext cx="210312" cy="91440"/>
          </a:xfrm>
          <a:prstGeom prst="triangle">
            <a:avLst/>
          </a:prstGeom>
          <a:solidFill>
            <a:srgbClr val="8FAAC1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2715768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FBF3E4"/>
          </a:solidFill>
          <a:ln w="19050">
            <a:solidFill>
              <a:srgbClr val="E3C9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2807208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81328" y="308152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sold becomes 132 wanted   ·   91% precision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 rot="10800000">
            <a:off x="5193792" y="3506724"/>
            <a:ext cx="210312" cy="91440"/>
          </a:xfrm>
          <a:prstGeom prst="triangle">
            <a:avLst/>
          </a:prstGeom>
          <a:solidFill>
            <a:srgbClr val="8FAAC1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" y="3621024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E7EFF7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371246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81328" y="398678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Strands Agent   ·   16 tools   ·   one HookProvider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rot="10800000">
            <a:off x="5193792" y="4411980"/>
            <a:ext cx="210312" cy="91440"/>
          </a:xfrm>
          <a:prstGeom prst="triangle">
            <a:avLst/>
          </a:prstGeom>
          <a:solidFill>
            <a:srgbClr val="8FAA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4440" y="4526280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E7EFF7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1328" y="4617720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DECIDES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481328" y="4892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bake   ·   what to order   ·   who does what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 rot="10800000">
            <a:off x="5193792" y="5317236"/>
            <a:ext cx="210312" cy="91440"/>
          </a:xfrm>
          <a:prstGeom prst="triangle">
            <a:avLst/>
          </a:prstGeom>
          <a:solidFill>
            <a:srgbClr val="8FAA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5431536"/>
            <a:ext cx="8138160" cy="768096"/>
          </a:xfrm>
          <a:prstGeom prst="roundRect">
            <a:avLst>
              <a:gd name="adj" fmla="val 9524"/>
            </a:avLst>
          </a:prstGeom>
          <a:solidFill>
            <a:srgbClr val="E7EFF7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55229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LANDS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81328" y="579729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  ·   one email   ·   the diary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372600" y="5815584"/>
            <a:ext cx="548640" cy="0"/>
          </a:xfrm>
          <a:prstGeom prst="line">
            <a:avLst/>
          </a:prstGeom>
          <a:noFill/>
          <a:ln w="19050">
            <a:solidFill>
              <a:srgbClr val="CD39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3099816"/>
            <a:ext cx="0" cy="2715768"/>
          </a:xfrm>
          <a:prstGeom prst="line">
            <a:avLst/>
          </a:prstGeom>
          <a:noFill/>
          <a:ln w="19050">
            <a:solidFill>
              <a:srgbClr val="CD39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91472" y="3099816"/>
            <a:ext cx="429768" cy="0"/>
          </a:xfrm>
          <a:prstGeom prst="line">
            <a:avLst/>
          </a:prstGeom>
          <a:noFill/>
          <a:ln w="19050">
            <a:solidFill>
              <a:srgbClr val="CD39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6200000">
            <a:off x="9372600" y="3035808"/>
            <a:ext cx="137160" cy="128016"/>
          </a:xfrm>
          <a:prstGeom prst="triangle">
            <a:avLst/>
          </a:prstGeom>
          <a:solidFill>
            <a:srgbClr val="CD395F"/>
          </a:solidFill>
          <a:ln/>
        </p:spPr>
      </p:sp>
      <p:sp>
        <p:nvSpPr>
          <p:cNvPr id="29" name="Text 27"/>
          <p:cNvSpPr/>
          <p:nvPr/>
        </p:nvSpPr>
        <p:spPr>
          <a:xfrm>
            <a:off x="10104120" y="340156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D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confirms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D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 out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34440" y="630936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downstream ever reads raw sales.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holds together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E7EFF7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0195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2286000"/>
            <a:ext cx="27432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till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sale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3145536"/>
            <a:ext cx="27432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9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465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its own jobs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4005072"/>
            <a:ext cx="27432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325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it, then asks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33088" y="1792224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BF3E4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190195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PERSISTS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52544" y="22677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bills.jsonl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52544" y="2514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append only, never rewritten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52544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corrected history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52544" y="3154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on the file's mtime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52544" y="3547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notes.md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52544" y="37947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learned, owner-editable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52544" y="41879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journal, tickets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52544" y="44348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did, what got ticked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30768" y="1792224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E7EFF7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31936" y="1901952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  ·   STRANDS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50224" y="22677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tools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50224" y="24963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read  ·  5 compute  ·  3 look ahead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50224" y="27249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memory  ·  1 acts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50224" y="31821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HookProvider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50224" y="34107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the run on spend,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50224" y="36393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looping, or a second action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50224" y="42245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50224" y="44622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AgentCore Runtime,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 per bakery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03904" y="3291840"/>
            <a:ext cx="192024" cy="0"/>
          </a:xfrm>
          <a:prstGeom prst="line">
            <a:avLst/>
          </a:prstGeom>
          <a:noFill/>
          <a:ln w="19050">
            <a:solidFill>
              <a:srgbClr val="8FAA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3977640" y="3227832"/>
            <a:ext cx="137160" cy="128016"/>
          </a:xfrm>
          <a:prstGeom prst="triangle">
            <a:avLst/>
          </a:prstGeom>
          <a:solidFill>
            <a:srgbClr val="8FAAC1"/>
          </a:solidFill>
          <a:ln/>
        </p:spPr>
      </p:sp>
      <p:sp>
        <p:nvSpPr>
          <p:cNvPr id="39" name="Shape 37"/>
          <p:cNvSpPr/>
          <p:nvPr/>
        </p:nvSpPr>
        <p:spPr>
          <a:xfrm>
            <a:off x="8101584" y="3291840"/>
            <a:ext cx="192024" cy="0"/>
          </a:xfrm>
          <a:prstGeom prst="line">
            <a:avLst/>
          </a:prstGeom>
          <a:noFill/>
          <a:ln w="19050">
            <a:solidFill>
              <a:srgbClr val="8FAAC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5400000">
            <a:off x="8275320" y="3227832"/>
            <a:ext cx="137160" cy="128016"/>
          </a:xfrm>
          <a:prstGeom prst="triangle">
            <a:avLst/>
          </a:prstGeom>
          <a:solidFill>
            <a:srgbClr val="8FAAC1"/>
          </a:solidFill>
          <a:ln/>
        </p:spPr>
      </p:sp>
      <p:sp>
        <p:nvSpPr>
          <p:cNvPr id="41" name="Shape 39"/>
          <p:cNvSpPr/>
          <p:nvPr/>
        </p:nvSpPr>
        <p:spPr>
          <a:xfrm>
            <a:off x="786384" y="5212080"/>
            <a:ext cx="10844784" cy="0"/>
          </a:xfrm>
          <a:prstGeom prst="line">
            <a:avLst/>
          </a:prstGeom>
          <a:noFill/>
          <a:ln w="19050">
            <a:solidFill>
              <a:srgbClr val="CD39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31168" y="5029200"/>
            <a:ext cx="0" cy="182880"/>
          </a:xfrm>
          <a:prstGeom prst="line">
            <a:avLst/>
          </a:prstGeom>
          <a:noFill/>
          <a:ln w="19050">
            <a:solidFill>
              <a:srgbClr val="CD39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6200000">
            <a:off x="722376" y="5148072"/>
            <a:ext cx="137160" cy="128016"/>
          </a:xfrm>
          <a:prstGeom prst="triangle">
            <a:avLst/>
          </a:prstGeom>
          <a:solidFill>
            <a:srgbClr val="CD395F"/>
          </a:solidFill>
          <a:ln/>
        </p:spPr>
      </p:sp>
      <p:sp>
        <p:nvSpPr>
          <p:cNvPr id="44" name="Text 42"/>
          <p:cNvSpPr/>
          <p:nvPr/>
        </p:nvSpPr>
        <p:spPr>
          <a:xfrm>
            <a:off x="786384" y="528523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3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SES   ·   one email, only when a decision needs a person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" y="572414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22384C"/>
          </a:solidFill>
          <a:ln/>
        </p:spPr>
      </p:sp>
      <p:sp>
        <p:nvSpPr>
          <p:cNvPr id="46" name="Text 44"/>
          <p:cNvSpPr/>
          <p:nvPr/>
        </p:nvSpPr>
        <p:spPr>
          <a:xfrm>
            <a:off x="896112" y="5833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96112" y="61081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land, the page follows, jobs get ticked, and it can be asked anything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92240" y="5833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closing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492240" y="6108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wakes it: it reads the day and decides tomorrow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day, and nobody touches it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417320" y="2231136"/>
            <a:ext cx="0" cy="3291840"/>
          </a:xfrm>
          <a:prstGeom prst="line">
            <a:avLst/>
          </a:prstGeom>
          <a:noFill/>
          <a:ln w="25400">
            <a:solidFill>
              <a:srgbClr val="C6D8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2048256"/>
            <a:ext cx="347472" cy="347472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0299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20299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arrives. His list is already there.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243584" y="2706624"/>
            <a:ext cx="347472" cy="347472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68833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268833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open. Receipts start landing.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243584" y="3364992"/>
            <a:ext cx="347472" cy="347472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34670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3240" y="334670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Trays done. The board ticks itself.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243584" y="4023360"/>
            <a:ext cx="347472" cy="347472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0050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40050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confirms what ran out.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243584" y="4681728"/>
            <a:ext cx="347472" cy="347472"/>
          </a:xfrm>
          <a:prstGeom prst="ellipse">
            <a:avLst/>
          </a:prstGeom>
          <a:solidFill>
            <a:srgbClr val="CD395F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663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19:30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6324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wakes on its own and plans tomorrow.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243584" y="5340096"/>
            <a:ext cx="347472" cy="347472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53218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19:31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63240" y="532180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until the morning.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66928" y="5815584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22384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815584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button. Three minutes. Nobody types.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actually do better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18836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DAYS REPLAYED, BOTH PLANS PRICED AGAINST DEMAND WE KNOW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67665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17320"/>
                <a:gridCol w="141732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71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71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71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she plans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€9,912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€8,321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€18,233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Sonnabon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€12,579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D39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€3,690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€16,269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840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sales down 56%.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66928" y="424281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goes up. That is correct: it buys availability with flour.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4956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LIFT IT QUOTES CAME FROM HER OWN TILLS</a:t>
            </a:r>
            <a:endParaRPr lang="en-US" sz="10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285232"/>
          <a:ext cx="67665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011680"/>
                <a:gridCol w="2240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71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A71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demand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Halloween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D39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1883664"/>
            <a:ext cx="3950208" cy="4480560"/>
          </a:xfrm>
          <a:prstGeom prst="roundRect">
            <a:avLst>
              <a:gd name="adj" fmla="val 2778"/>
            </a:avLst>
          </a:prstGeom>
          <a:solidFill>
            <a:srgbClr val="22384C"/>
          </a:solidFill>
          <a:ln/>
        </p:spPr>
      </p:sp>
      <p:sp>
        <p:nvSpPr>
          <p:cNvPr id="13" name="Text 9"/>
          <p:cNvSpPr/>
          <p:nvPr/>
        </p:nvSpPr>
        <p:spPr>
          <a:xfrm>
            <a:off x="7991856" y="21396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E9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LEAVES HER ALONE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991856" y="259689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92354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it woke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991856" y="356616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9B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9235440" y="37124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it reached her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991856" y="4535424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9235440" y="4681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 it handled alone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991856" y="55229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 earns an email by being unusual for this shop.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02336" cy="402336"/>
          </a:xfrm>
          <a:prstGeom prst="ellipse">
            <a:avLst/>
          </a:prstGeom>
          <a:solidFill>
            <a:srgbClr val="5B9BD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RETURNS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Sarah gets back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1865376"/>
            <a:ext cx="3547872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65376"/>
            <a:ext cx="3547872" cy="73152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665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035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h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week, handed back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45643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375 hours a year. An estimate of what these jobs take by hand.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865376"/>
            <a:ext cx="3547872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865376"/>
            <a:ext cx="3547872" cy="73152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0665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2395728"/>
            <a:ext cx="3035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€5,000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0" y="31272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year, recovered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345643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over 120 replayed days. Lost sales fall from €8,321 to €3,690.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86537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1865376"/>
            <a:ext cx="3566160" cy="73152"/>
          </a:xfrm>
          <a:prstGeom prst="rect">
            <a:avLst/>
          </a:prstGeom>
          <a:solidFill>
            <a:srgbClr val="CD395F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06654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27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239572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3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321040" y="312724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year, to run 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21040" y="34564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wakings a day, about 6,500 tokens each. Measured from the real tool output.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334256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7EFF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80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 down 56%. Waste goes up a little, and that is correct: it buys availability with flour.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90118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the current method on 65 days out of 120. The calculation that never got done now happens every night.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572414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22384C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5724144"/>
            <a:ext cx="11064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thousand euros back, for twenty-five dollars of arithmetic.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3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serm\OneDrive\Bureau\TBI\ui\assets\f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5074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121408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runs every night.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051560" y="2834640"/>
            <a:ext cx="9601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reaches her twice a month.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1078992" y="3822192"/>
            <a:ext cx="777240" cy="36576"/>
          </a:xfrm>
          <a:prstGeom prst="rect">
            <a:avLst/>
          </a:prstGeom>
          <a:solidFill>
            <a:srgbClr val="5B9BD1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4078224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ratio is the product.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78992" y="495604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F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did not get a dashboard. She got the hour back.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2026-09-10T21:34:42Z</dcterms:created>
  <dcterms:modified xsi:type="dcterms:W3CDTF">2026-09-10T21:34:42Z</dcterms:modified>
</cp:coreProperties>
</file>