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What people wanted</c:v>
                </c:pt>
              </c:strCache>
            </c:strRef>
          </c:tx>
          <c:spPr>
            <a:solidFill>
              <a:srgbClr val="E8A3B4"/>
            </a:solidFill>
            <a:ln w="38100" cap="flat">
              <a:solidFill>
                <a:srgbClr val="E8A3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A3B4"/>
              </a:solidFill>
              <a:ln w="9525" cap="flat">
                <a:solidFill>
                  <a:srgbClr val="E8A3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07h</c:v>
                  </c:pt>
                  <c:pt idx="1">
                    <c:v> </c:v>
                  </c:pt>
                  <c:pt idx="2">
                    <c:v> </c:v>
                  </c:pt>
                  <c:pt idx="3">
                    <c:v> </c:v>
                  </c:pt>
                  <c:pt idx="4">
                    <c:v>09h</c:v>
                  </c:pt>
                  <c:pt idx="5">
                    <c:v> </c:v>
                  </c:pt>
                  <c:pt idx="6">
                    <c:v> </c:v>
                  </c:pt>
                  <c:pt idx="7">
                    <c:v> </c:v>
                  </c:pt>
                  <c:pt idx="8">
                    <c:v>11h</c:v>
                  </c:pt>
                  <c:pt idx="9">
                    <c:v> </c:v>
                  </c:pt>
                  <c:pt idx="10">
                    <c:v> </c:v>
                  </c:pt>
                  <c:pt idx="11">
                    <c:v> </c:v>
                  </c:pt>
                  <c:pt idx="12">
                    <c:v>13h</c:v>
                  </c:pt>
                  <c:pt idx="13">
                    <c:v> </c:v>
                  </c:pt>
                  <c:pt idx="14">
                    <c:v> </c:v>
                  </c:pt>
                  <c:pt idx="15">
                    <c:v> </c:v>
                  </c:pt>
                  <c:pt idx="16">
                    <c:v>15h</c:v>
                  </c:pt>
                  <c:pt idx="17">
                    <c:v> </c:v>
                  </c:pt>
                  <c:pt idx="18">
                    <c:v> </c:v>
                  </c:pt>
                  <c:pt idx="19">
                    <c:v> </c:v>
                  </c:pt>
                  <c:pt idx="20">
                    <c:v>17h</c:v>
                  </c:pt>
                  <c:pt idx="21">
                    <c:v> </c:v>
                  </c:pt>
                  <c:pt idx="22">
                    <c:v> </c:v>
                  </c:pt>
                  <c:pt idx="23">
                    <c:v> </c:v>
                  </c:pt>
                  <c:pt idx="24">
                    <c:v>19h</c:v>
                  </c:pt>
                  <c:pt idx="25">
                    <c:v> 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1.1</c:v>
                </c:pt>
                <c:pt idx="1">
                  <c:v>2.3</c:v>
                </c:pt>
                <c:pt idx="2">
                  <c:v>5.3</c:v>
                </c:pt>
                <c:pt idx="3">
                  <c:v>8.1</c:v>
                </c:pt>
                <c:pt idx="4">
                  <c:v>12.4</c:v>
                </c:pt>
                <c:pt idx="5">
                  <c:v>17.9</c:v>
                </c:pt>
                <c:pt idx="6">
                  <c:v>24.5</c:v>
                </c:pt>
                <c:pt idx="7">
                  <c:v>32.8</c:v>
                </c:pt>
                <c:pt idx="8">
                  <c:v>41.7</c:v>
                </c:pt>
                <c:pt idx="9">
                  <c:v>48.7</c:v>
                </c:pt>
                <c:pt idx="10">
                  <c:v>54</c:v>
                </c:pt>
                <c:pt idx="11">
                  <c:v>60.1</c:v>
                </c:pt>
                <c:pt idx="12">
                  <c:v>67.1</c:v>
                </c:pt>
                <c:pt idx="13">
                  <c:v>75.8</c:v>
                </c:pt>
                <c:pt idx="14">
                  <c:v>86.2</c:v>
                </c:pt>
                <c:pt idx="15">
                  <c:v>96.2</c:v>
                </c:pt>
                <c:pt idx="16">
                  <c:v>104.7</c:v>
                </c:pt>
                <c:pt idx="17">
                  <c:v>112.3</c:v>
                </c:pt>
                <c:pt idx="18">
                  <c:v>118</c:v>
                </c:pt>
                <c:pt idx="19">
                  <c:v>122.1</c:v>
                </c:pt>
                <c:pt idx="20">
                  <c:v>125.3</c:v>
                </c:pt>
                <c:pt idx="21">
                  <c:v>128.1</c:v>
                </c:pt>
                <c:pt idx="22">
                  <c:v>129.6</c:v>
                </c:pt>
                <c:pt idx="23">
                  <c:v>130.8</c:v>
                </c:pt>
                <c:pt idx="24">
                  <c:v>132</c:v>
                </c:pt>
                <c:pt idx="25">
                  <c:v>132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What she sold</c:v>
                </c:pt>
              </c:strCache>
            </c:strRef>
          </c:tx>
          <c:spPr>
            <a:solidFill>
              <a:srgbClr val="22384C"/>
            </a:solidFill>
            <a:ln w="38100" cap="flat">
              <a:solidFill>
                <a:srgbClr val="2238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2384C"/>
              </a:solidFill>
              <a:ln w="9525" cap="flat">
                <a:solidFill>
                  <a:srgbClr val="2238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07h</c:v>
                  </c:pt>
                  <c:pt idx="1">
                    <c:v> </c:v>
                  </c:pt>
                  <c:pt idx="2">
                    <c:v> </c:v>
                  </c:pt>
                  <c:pt idx="3">
                    <c:v> </c:v>
                  </c:pt>
                  <c:pt idx="4">
                    <c:v>09h</c:v>
                  </c:pt>
                  <c:pt idx="5">
                    <c:v> </c:v>
                  </c:pt>
                  <c:pt idx="6">
                    <c:v> </c:v>
                  </c:pt>
                  <c:pt idx="7">
                    <c:v> </c:v>
                  </c:pt>
                  <c:pt idx="8">
                    <c:v>11h</c:v>
                  </c:pt>
                  <c:pt idx="9">
                    <c:v> </c:v>
                  </c:pt>
                  <c:pt idx="10">
                    <c:v> </c:v>
                  </c:pt>
                  <c:pt idx="11">
                    <c:v> </c:v>
                  </c:pt>
                  <c:pt idx="12">
                    <c:v>13h</c:v>
                  </c:pt>
                  <c:pt idx="13">
                    <c:v> </c:v>
                  </c:pt>
                  <c:pt idx="14">
                    <c:v> </c:v>
                  </c:pt>
                  <c:pt idx="15">
                    <c:v> </c:v>
                  </c:pt>
                  <c:pt idx="16">
                    <c:v>15h</c:v>
                  </c:pt>
                  <c:pt idx="17">
                    <c:v> </c:v>
                  </c:pt>
                  <c:pt idx="18">
                    <c:v> </c:v>
                  </c:pt>
                  <c:pt idx="19">
                    <c:v> </c:v>
                  </c:pt>
                  <c:pt idx="20">
                    <c:v>17h</c:v>
                  </c:pt>
                  <c:pt idx="21">
                    <c:v> </c:v>
                  </c:pt>
                  <c:pt idx="22">
                    <c:v> </c:v>
                  </c:pt>
                  <c:pt idx="23">
                    <c:v> </c:v>
                  </c:pt>
                  <c:pt idx="24">
                    <c:v>19h</c:v>
                  </c:pt>
                  <c:pt idx="25">
                    <c:v> 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9</c:v>
                </c:pt>
                <c:pt idx="4">
                  <c:v>12</c:v>
                </c:pt>
                <c:pt idx="5">
                  <c:v>16</c:v>
                </c:pt>
                <c:pt idx="6">
                  <c:v>21</c:v>
                </c:pt>
                <c:pt idx="7">
                  <c:v>30</c:v>
                </c:pt>
                <c:pt idx="8">
                  <c:v>40</c:v>
                </c:pt>
                <c:pt idx="9">
                  <c:v>46</c:v>
                </c:pt>
                <c:pt idx="10">
                  <c:v>53</c:v>
                </c:pt>
                <c:pt idx="11">
                  <c:v>60</c:v>
                </c:pt>
                <c:pt idx="12">
                  <c:v>60</c:v>
                </c:pt>
                <c:pt idx="13">
                  <c:v>60</c:v>
                </c:pt>
                <c:pt idx="14">
                  <c:v>60</c:v>
                </c:pt>
                <c:pt idx="15">
                  <c:v>60</c:v>
                </c:pt>
                <c:pt idx="16">
                  <c:v>60</c:v>
                </c:pt>
                <c:pt idx="17">
                  <c:v>60</c:v>
                </c:pt>
                <c:pt idx="18">
                  <c:v>60</c:v>
                </c:pt>
                <c:pt idx="19">
                  <c:v>60</c:v>
                </c:pt>
                <c:pt idx="20">
                  <c:v>60</c:v>
                </c:pt>
                <c:pt idx="21">
                  <c:v>60</c:v>
                </c:pt>
                <c:pt idx="22">
                  <c:v>60</c:v>
                </c:pt>
                <c:pt idx="23">
                  <c:v>60</c:v>
                </c:pt>
                <c:pt idx="24">
                  <c:v>60</c:v>
                </c:pt>
                <c:pt idx="25">
                  <c:v>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7186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</c:scaling>
        <c:delete val="0"/>
        <c:axPos val="l"/>
        <c:majorGridlines>
          <c:spPr>
            <a:ln w="12700" cap="flat">
              <a:solidFill>
                <a:srgbClr val="E4EB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71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35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A718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DCE6E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38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serm\OneDrive\Bureau\TBI\ui\assets\f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9456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487168" y="2157984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SONNABON</a:t>
            </a:r>
            <a:endParaRPr lang="en-US" sz="5600" dirty="0"/>
          </a:p>
        </p:txBody>
      </p:sp>
      <p:sp>
        <p:nvSpPr>
          <p:cNvPr id="4" name="Text 1"/>
          <p:cNvSpPr/>
          <p:nvPr/>
        </p:nvSpPr>
        <p:spPr>
          <a:xfrm>
            <a:off x="2542032" y="3072384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F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operations and planning manager a small bakery cannot afford.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560320" y="3858768"/>
            <a:ext cx="777240" cy="36576"/>
          </a:xfrm>
          <a:prstGeom prst="rect">
            <a:avLst/>
          </a:prstGeom>
          <a:solidFill>
            <a:srgbClr val="5B9BD1"/>
          </a:solidFill>
          <a:ln/>
        </p:spPr>
      </p:sp>
      <p:sp>
        <p:nvSpPr>
          <p:cNvPr id="6" name="Text 3"/>
          <p:cNvSpPr/>
          <p:nvPr/>
        </p:nvSpPr>
        <p:spPr>
          <a:xfrm>
            <a:off x="2542032" y="4078224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7E9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Agents for Humans   ·   Professional Agents   ·   Strands Agents SDK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02336" cy="402336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20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420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STRUGGLE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3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Sarah closed an hour ago. She opened at four.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66928" y="2011680"/>
            <a:ext cx="4114800" cy="3246120"/>
          </a:xfrm>
          <a:prstGeom prst="roundRect">
            <a:avLst>
              <a:gd name="adj" fmla="val 3380"/>
            </a:avLst>
          </a:prstGeom>
          <a:solidFill>
            <a:srgbClr val="22384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487168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21:14</a:t>
            </a:r>
            <a:endParaRPr lang="en-US" sz="6800" dirty="0"/>
          </a:p>
        </p:txBody>
      </p:sp>
      <p:sp>
        <p:nvSpPr>
          <p:cNvPr id="8" name="Text 6"/>
          <p:cNvSpPr/>
          <p:nvPr/>
        </p:nvSpPr>
        <p:spPr>
          <a:xfrm>
            <a:off x="841248" y="3730752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F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decisions that decide</a:t>
            </a:r>
            <a:endParaRPr lang="en-US" sz="135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F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this shop makes money</a:t>
            </a:r>
            <a:endParaRPr lang="en-US" sz="135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F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still not been made.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230368" y="2084832"/>
            <a:ext cx="45720" cy="859536"/>
          </a:xfrm>
          <a:prstGeom prst="rect">
            <a:avLst/>
          </a:prstGeom>
          <a:solidFill>
            <a:srgbClr val="5B9BD1"/>
          </a:solidFill>
          <a:ln/>
        </p:spPr>
      </p:sp>
      <p:sp>
        <p:nvSpPr>
          <p:cNvPr id="10" name="Text 8"/>
          <p:cNvSpPr/>
          <p:nvPr/>
        </p:nvSpPr>
        <p:spPr>
          <a:xfrm>
            <a:off x="5504688" y="203911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to bake tomorrow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504688" y="239572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products. From memory.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230368" y="3182112"/>
            <a:ext cx="45720" cy="859536"/>
          </a:xfrm>
          <a:prstGeom prst="rect">
            <a:avLst/>
          </a:prstGeom>
          <a:solidFill>
            <a:srgbClr val="5B9BD1"/>
          </a:solidFill>
          <a:ln/>
        </p:spPr>
      </p:sp>
      <p:sp>
        <p:nvSpPr>
          <p:cNvPr id="13" name="Text 11"/>
          <p:cNvSpPr/>
          <p:nvPr/>
        </p:nvSpPr>
        <p:spPr>
          <a:xfrm>
            <a:off x="5504688" y="313639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order, and by when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504688" y="349300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suppliers. Four deadlines.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230368" y="4279392"/>
            <a:ext cx="45720" cy="859536"/>
          </a:xfrm>
          <a:prstGeom prst="rect">
            <a:avLst/>
          </a:prstGeom>
          <a:solidFill>
            <a:srgbClr val="5B9BD1"/>
          </a:solidFill>
          <a:ln/>
        </p:spPr>
      </p:sp>
      <p:sp>
        <p:nvSpPr>
          <p:cNvPr id="16" name="Text 14"/>
          <p:cNvSpPr/>
          <p:nvPr/>
        </p:nvSpPr>
        <p:spPr>
          <a:xfrm>
            <a:off x="5504688" y="423367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Christmas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504688" y="459028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 October's post. It will not happen.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04688" y="546811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trained her for any of it.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02336" cy="402336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20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420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SHE HAS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3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thing already exists, and arrives every day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051560" y="2011680"/>
            <a:ext cx="301752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194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SARAH'S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325880" y="252374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no. 1204        08:14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25880" y="2798064"/>
            <a:ext cx="2468880" cy="0"/>
          </a:xfrm>
          <a:prstGeom prst="line">
            <a:avLst/>
          </a:prstGeom>
          <a:noFill/>
          <a:ln w="12700">
            <a:solidFill>
              <a:srgbClr val="DCE6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25880" y="290779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Croissant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63240" y="290779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2.60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25880" y="31821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Coffee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63240" y="318211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25880" y="34564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Cinnamon roll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63240" y="34564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325880" y="3803904"/>
            <a:ext cx="2468880" cy="0"/>
          </a:xfrm>
          <a:prstGeom prst="line">
            <a:avLst/>
          </a:prstGeom>
          <a:noFill/>
          <a:ln w="12700">
            <a:solidFill>
              <a:srgbClr val="DCE6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25880" y="391363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63240" y="39136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572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450 of these a day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2048256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3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Sonnabon is given nothing else.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120640" y="2651760"/>
            <a:ext cx="6492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stock system. No spreadsheet. No forms.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120640" y="3438144"/>
            <a:ext cx="6492240" cy="1481328"/>
          </a:xfrm>
          <a:prstGeom prst="roundRect">
            <a:avLst>
              <a:gd name="adj" fmla="val 6173"/>
            </a:avLst>
          </a:prstGeom>
          <a:solidFill>
            <a:srgbClr val="E7EFF7"/>
          </a:solidFill>
          <a:ln/>
        </p:spPr>
      </p:sp>
      <p:sp>
        <p:nvSpPr>
          <p:cNvPr id="23" name="Text 21"/>
          <p:cNvSpPr/>
          <p:nvPr/>
        </p:nvSpPr>
        <p:spPr>
          <a:xfrm>
            <a:off x="5440680" y="365760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carries the time, not just the date.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40680" y="41148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sold forty” and “we ran out at ten past ten”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not the same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02336" cy="402336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20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420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 SHE SOLD OUT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3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Sold out looks like a good day</a:t>
            </a:r>
            <a:endParaRPr lang="en-US" sz="3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828800"/>
          <a:ext cx="7498080" cy="3675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4041648" y="2139696"/>
            <a:ext cx="0" cy="2505456"/>
          </a:xfrm>
          <a:prstGeom prst="line">
            <a:avLst/>
          </a:prstGeom>
          <a:noFill/>
          <a:ln w="19050">
            <a:solidFill>
              <a:srgbClr val="CD395F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4133088" y="20848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D39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 out 12:51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21040" y="19568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23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820656" y="2029968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sold. The shelf was empty.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321040" y="263347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23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9820656" y="270662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wanted one.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321040" y="331012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D39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820656" y="3383280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with nothing.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321040" y="398678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D39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€233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9820656" y="4059936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margin walked out.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321040" y="466344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D39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7h 09m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9820656" y="4736592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nothing on the tray.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742432"/>
            <a:ext cx="11064240" cy="768096"/>
          </a:xfrm>
          <a:prstGeom prst="roundRect">
            <a:avLst>
              <a:gd name="adj" fmla="val 11905"/>
            </a:avLst>
          </a:prstGeom>
          <a:solidFill>
            <a:srgbClr val="22384C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742432"/>
            <a:ext cx="11064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till counts what leaves the shelf. It cannot count who left without buying.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02336" cy="402336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20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420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3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she hires one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66928" y="1792224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the timestamps, works out what really ran out, and plans from that.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2414016"/>
            <a:ext cx="5321808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414016"/>
            <a:ext cx="5321808" cy="73152"/>
          </a:xfrm>
          <a:prstGeom prst="rect">
            <a:avLst/>
          </a:prstGeom>
          <a:solidFill>
            <a:srgbClr val="5B9BD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3347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77824" y="30540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till at every close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77824" y="36027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what ran out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77824" y="415137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tomorrow's bake, product by product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2414016"/>
            <a:ext cx="5321808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E6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2414016"/>
            <a:ext cx="5321808" cy="73152"/>
          </a:xfrm>
          <a:prstGeom prst="rect">
            <a:avLst/>
          </a:prstGeom>
          <a:solidFill>
            <a:srgbClr val="5B9BD1"/>
          </a:solidFill>
          <a:ln/>
        </p:spPr>
      </p:sp>
      <p:sp>
        <p:nvSpPr>
          <p:cNvPr id="15" name="Text 13"/>
          <p:cNvSpPr/>
          <p:nvPr/>
        </p:nvSpPr>
        <p:spPr>
          <a:xfrm>
            <a:off x="6620256" y="263347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620256" y="30540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calendar and every run-up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20256" y="36027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what to order, and when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20256" y="415137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each person their list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1206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22384C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303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emails her only when a decision needs a person.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14400" y="57424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orders, never agrees a price, never touches a supplier.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02336" cy="402336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20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420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3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file in, one decision out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234440" y="1810512"/>
            <a:ext cx="8138160" cy="768096"/>
          </a:xfrm>
          <a:prstGeom prst="roundRect">
            <a:avLst>
              <a:gd name="adj" fmla="val 9524"/>
            </a:avLst>
          </a:prstGeom>
          <a:solidFill>
            <a:srgbClr val="E7EFF7"/>
          </a:solidFill>
          <a:ln w="12700">
            <a:solidFill>
              <a:srgbClr val="DCE6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81328" y="1901952"/>
            <a:ext cx="7680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GIVEN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81328" y="217627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per sale   ·   about 450 a day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 rot="10800000">
            <a:off x="5193792" y="2601468"/>
            <a:ext cx="210312" cy="91440"/>
          </a:xfrm>
          <a:prstGeom prst="triangle">
            <a:avLst/>
          </a:prstGeom>
          <a:solidFill>
            <a:srgbClr val="8FAAC1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2715768"/>
            <a:ext cx="8138160" cy="768096"/>
          </a:xfrm>
          <a:prstGeom prst="roundRect">
            <a:avLst>
              <a:gd name="adj" fmla="val 9524"/>
            </a:avLst>
          </a:prstGeom>
          <a:solidFill>
            <a:srgbClr val="FBF3E4"/>
          </a:solidFill>
          <a:ln w="19050">
            <a:solidFill>
              <a:srgbClr val="E3C9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81328" y="2807208"/>
            <a:ext cx="7680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81328" y="3081528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sold becomes 132 wanted   ·   91% precision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 rot="10800000">
            <a:off x="5193792" y="3506724"/>
            <a:ext cx="210312" cy="91440"/>
          </a:xfrm>
          <a:prstGeom prst="triangle">
            <a:avLst/>
          </a:prstGeom>
          <a:solidFill>
            <a:srgbClr val="8FAAC1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4440" y="3621024"/>
            <a:ext cx="8138160" cy="768096"/>
          </a:xfrm>
          <a:prstGeom prst="roundRect">
            <a:avLst>
              <a:gd name="adj" fmla="val 9524"/>
            </a:avLst>
          </a:prstGeom>
          <a:solidFill>
            <a:srgbClr val="E7EFF7"/>
          </a:solidFill>
          <a:ln w="12700">
            <a:solidFill>
              <a:srgbClr val="DCE6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81328" y="3712464"/>
            <a:ext cx="7680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481328" y="398678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Strands Agent   ·   16 tools   ·   one HookProvider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 rot="10800000">
            <a:off x="5193792" y="4411980"/>
            <a:ext cx="210312" cy="91440"/>
          </a:xfrm>
          <a:prstGeom prst="triangle">
            <a:avLst/>
          </a:prstGeom>
          <a:solidFill>
            <a:srgbClr val="8FAAC1"/>
          </a:solidFill>
          <a:ln/>
        </p:spPr>
      </p:sp>
      <p:sp>
        <p:nvSpPr>
          <p:cNvPr id="18" name="Shape 16"/>
          <p:cNvSpPr/>
          <p:nvPr/>
        </p:nvSpPr>
        <p:spPr>
          <a:xfrm>
            <a:off x="1234440" y="4526280"/>
            <a:ext cx="8138160" cy="768096"/>
          </a:xfrm>
          <a:prstGeom prst="roundRect">
            <a:avLst>
              <a:gd name="adj" fmla="val 9524"/>
            </a:avLst>
          </a:prstGeom>
          <a:solidFill>
            <a:srgbClr val="E7EFF7"/>
          </a:solidFill>
          <a:ln w="12700">
            <a:solidFill>
              <a:srgbClr val="DCE6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81328" y="4617720"/>
            <a:ext cx="7680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DECIDES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481328" y="489204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Tomorrow's bake   ·   what to order   ·   who does what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 rot="10800000">
            <a:off x="5193792" y="5317236"/>
            <a:ext cx="210312" cy="91440"/>
          </a:xfrm>
          <a:prstGeom prst="triangle">
            <a:avLst/>
          </a:prstGeom>
          <a:solidFill>
            <a:srgbClr val="8FAAC1"/>
          </a:solidFill>
          <a:ln/>
        </p:spPr>
      </p:sp>
      <p:sp>
        <p:nvSpPr>
          <p:cNvPr id="22" name="Shape 20"/>
          <p:cNvSpPr/>
          <p:nvPr/>
        </p:nvSpPr>
        <p:spPr>
          <a:xfrm>
            <a:off x="1234440" y="5431536"/>
            <a:ext cx="8138160" cy="768096"/>
          </a:xfrm>
          <a:prstGeom prst="roundRect">
            <a:avLst>
              <a:gd name="adj" fmla="val 9524"/>
            </a:avLst>
          </a:prstGeom>
          <a:solidFill>
            <a:srgbClr val="E7EFF7"/>
          </a:solidFill>
          <a:ln w="12700">
            <a:solidFill>
              <a:srgbClr val="DCE6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81328" y="5522976"/>
            <a:ext cx="7680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LANDS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481328" y="579729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  ·   one email   ·   the diary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9372600" y="5815584"/>
            <a:ext cx="548640" cy="0"/>
          </a:xfrm>
          <a:prstGeom prst="line">
            <a:avLst/>
          </a:prstGeom>
          <a:noFill/>
          <a:ln w="19050">
            <a:solidFill>
              <a:srgbClr val="CD395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21240" y="3099816"/>
            <a:ext cx="0" cy="2715768"/>
          </a:xfrm>
          <a:prstGeom prst="line">
            <a:avLst/>
          </a:prstGeom>
          <a:noFill/>
          <a:ln w="19050">
            <a:solidFill>
              <a:srgbClr val="CD39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91472" y="3099816"/>
            <a:ext cx="429768" cy="0"/>
          </a:xfrm>
          <a:prstGeom prst="line">
            <a:avLst/>
          </a:prstGeom>
          <a:noFill/>
          <a:ln w="19050">
            <a:solidFill>
              <a:srgbClr val="CD395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6200000">
            <a:off x="9372600" y="3035808"/>
            <a:ext cx="137160" cy="128016"/>
          </a:xfrm>
          <a:prstGeom prst="triangle">
            <a:avLst/>
          </a:prstGeom>
          <a:solidFill>
            <a:srgbClr val="CD395F"/>
          </a:solidFill>
          <a:ln/>
        </p:spPr>
      </p:sp>
      <p:sp>
        <p:nvSpPr>
          <p:cNvPr id="29" name="Text 27"/>
          <p:cNvSpPr/>
          <p:nvPr/>
        </p:nvSpPr>
        <p:spPr>
          <a:xfrm>
            <a:off x="10104120" y="340156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D39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 confirms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D39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ran out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234440" y="630936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downstream ever reads raw sales.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02336" cy="402336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20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420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3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runs 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66928" y="188366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359152"/>
            <a:ext cx="274320" cy="274320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8" name="Text 6"/>
          <p:cNvSpPr/>
          <p:nvPr/>
        </p:nvSpPr>
        <p:spPr>
          <a:xfrm>
            <a:off x="987552" y="230428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Agents SDK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87552" y="2633472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16 tools, one hook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32735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87552" y="360273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resolved from the environment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297680"/>
            <a:ext cx="274320" cy="274320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14" name="Text 12"/>
          <p:cNvSpPr/>
          <p:nvPr/>
        </p:nvSpPr>
        <p:spPr>
          <a:xfrm>
            <a:off x="987552" y="424281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87552" y="4572000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till export, read by offset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09360" y="188366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2359152"/>
            <a:ext cx="274320" cy="274320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18" name="Text 16"/>
          <p:cNvSpPr/>
          <p:nvPr/>
        </p:nvSpPr>
        <p:spPr>
          <a:xfrm>
            <a:off x="6729984" y="230428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Scheduler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729984" y="2633472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 per shop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3328416"/>
            <a:ext cx="274320" cy="274320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21" name="Text 19"/>
          <p:cNvSpPr/>
          <p:nvPr/>
        </p:nvSpPr>
        <p:spPr>
          <a:xfrm>
            <a:off x="6729984" y="32735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729984" y="360273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session per bakery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09360" y="4297680"/>
            <a:ext cx="274320" cy="274320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24" name="Text 22"/>
          <p:cNvSpPr/>
          <p:nvPr/>
        </p:nvSpPr>
        <p:spPr>
          <a:xfrm>
            <a:off x="6729984" y="424281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SES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729984" y="4572000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email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5285232"/>
            <a:ext cx="11064240" cy="1115568"/>
          </a:xfrm>
          <a:prstGeom prst="roundRect">
            <a:avLst>
              <a:gd name="adj" fmla="val 8197"/>
            </a:avLst>
          </a:prstGeom>
          <a:solidFill>
            <a:srgbClr val="22384C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5431536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limits are hooks, not prompt text.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14400" y="585216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is a request a model can argue with. A hook cancels the run.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02336" cy="402336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20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420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3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day, and nobody touches it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417320" y="2231136"/>
            <a:ext cx="0" cy="3291840"/>
          </a:xfrm>
          <a:prstGeom prst="line">
            <a:avLst/>
          </a:prstGeom>
          <a:noFill/>
          <a:ln w="25400">
            <a:solidFill>
              <a:srgbClr val="C6D8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43584" y="2048256"/>
            <a:ext cx="347472" cy="347472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202996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63240" y="20299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 arrives. His list is already there.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1243584" y="2706624"/>
            <a:ext cx="347472" cy="347472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11" name="Text 9"/>
          <p:cNvSpPr/>
          <p:nvPr/>
        </p:nvSpPr>
        <p:spPr>
          <a:xfrm>
            <a:off x="1828800" y="268833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07:00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63240" y="2688336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 open. Receipts start landing.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243584" y="3364992"/>
            <a:ext cx="347472" cy="347472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0" y="33467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09:30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063240" y="334670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Trays done. The board ticks itself.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1243584" y="4023360"/>
            <a:ext cx="347472" cy="347472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17" name="Text 15"/>
          <p:cNvSpPr/>
          <p:nvPr/>
        </p:nvSpPr>
        <p:spPr>
          <a:xfrm>
            <a:off x="1828800" y="400507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18:00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063240" y="400507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 confirms what ran out.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1243584" y="4681728"/>
            <a:ext cx="347472" cy="347472"/>
          </a:xfrm>
          <a:prstGeom prst="ellipse">
            <a:avLst/>
          </a:prstGeom>
          <a:solidFill>
            <a:srgbClr val="CD395F"/>
          </a:solidFill>
          <a:ln/>
        </p:spPr>
      </p:sp>
      <p:sp>
        <p:nvSpPr>
          <p:cNvPr id="20" name="Text 18"/>
          <p:cNvSpPr/>
          <p:nvPr/>
        </p:nvSpPr>
        <p:spPr>
          <a:xfrm>
            <a:off x="1828800" y="46634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19:30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063240" y="46634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wakes on its own and plans tomorrow.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1243584" y="5340096"/>
            <a:ext cx="347472" cy="347472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23" name="Text 21"/>
          <p:cNvSpPr/>
          <p:nvPr/>
        </p:nvSpPr>
        <p:spPr>
          <a:xfrm>
            <a:off x="1828800" y="532180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8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19:31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063240" y="532180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 until the morning.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66928" y="5815584"/>
            <a:ext cx="11064240" cy="804672"/>
          </a:xfrm>
          <a:prstGeom prst="roundRect">
            <a:avLst>
              <a:gd name="adj" fmla="val 11364"/>
            </a:avLst>
          </a:prstGeom>
          <a:solidFill>
            <a:srgbClr val="22384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5815584"/>
            <a:ext cx="11064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button. Three minutes. Nobody types.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9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402336" cy="402336"/>
          </a:xfrm>
          <a:prstGeom prst="ellipse">
            <a:avLst/>
          </a:prstGeom>
          <a:solidFill>
            <a:srgbClr val="5B9BD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20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420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3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actually do better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DAYS REPLAYED, BOTH PLANS PRICED AGAINST DEMAND WE KNOW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31136"/>
          <a:ext cx="676656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417320"/>
                <a:gridCol w="1417320"/>
                <a:gridCol w="1417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A71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A71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sales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A71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38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she plans today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8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€9,912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8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€8,321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8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€18,233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38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Sonnabon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38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€12,579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D39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€3,690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38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€16,269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3840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3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Lost sales down 56%.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566928" y="4242816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goes up. That is correct: it buys availability with flour.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4956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327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EVERY LIFT IT QUOTES CAME FROM HER OWN TILLS</a:t>
            </a:r>
            <a:endParaRPr lang="en-US" sz="10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5285232"/>
          <a:ext cx="676656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011680"/>
                <a:gridCol w="2240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A71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till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A71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 demand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8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8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8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238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Christmas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38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D39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680960" y="1883664"/>
            <a:ext cx="3950208" cy="4480560"/>
          </a:xfrm>
          <a:prstGeom prst="roundRect">
            <a:avLst>
              <a:gd name="adj" fmla="val 2778"/>
            </a:avLst>
          </a:prstGeom>
          <a:solidFill>
            <a:srgbClr val="22384C"/>
          </a:solidFill>
          <a:ln/>
        </p:spPr>
      </p:sp>
      <p:sp>
        <p:nvSpPr>
          <p:cNvPr id="13" name="Text 9"/>
          <p:cNvSpPr/>
          <p:nvPr/>
        </p:nvSpPr>
        <p:spPr>
          <a:xfrm>
            <a:off x="7991856" y="21396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E9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LEAVES HER ALONE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7991856" y="2596896"/>
            <a:ext cx="1188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endParaRPr lang="en-US" sz="3200" dirty="0"/>
          </a:p>
        </p:txBody>
      </p:sp>
      <p:sp>
        <p:nvSpPr>
          <p:cNvPr id="15" name="Text 11"/>
          <p:cNvSpPr/>
          <p:nvPr/>
        </p:nvSpPr>
        <p:spPr>
          <a:xfrm>
            <a:off x="923544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nights it woke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7991856" y="3566160"/>
            <a:ext cx="1188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9B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200" dirty="0"/>
          </a:p>
        </p:txBody>
      </p:sp>
      <p:sp>
        <p:nvSpPr>
          <p:cNvPr id="17" name="Text 13"/>
          <p:cNvSpPr/>
          <p:nvPr/>
        </p:nvSpPr>
        <p:spPr>
          <a:xfrm>
            <a:off x="9235440" y="37124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nights it reached her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7991856" y="4535424"/>
            <a:ext cx="1188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3200" dirty="0"/>
          </a:p>
        </p:txBody>
      </p:sp>
      <p:sp>
        <p:nvSpPr>
          <p:cNvPr id="19" name="Text 15"/>
          <p:cNvSpPr/>
          <p:nvPr/>
        </p:nvSpPr>
        <p:spPr>
          <a:xfrm>
            <a:off x="9235440" y="4681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nights it handled alone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7991856" y="5522976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AF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night earns an email by being unusual for this shop.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238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serm\OneDrive\Bureau\TBI\ui\assets\f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507492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51560" y="2121408"/>
            <a:ext cx="9601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runs every night.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1051560" y="2834640"/>
            <a:ext cx="9601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reaches her twice a month.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1078992" y="3822192"/>
            <a:ext cx="777240" cy="36576"/>
          </a:xfrm>
          <a:prstGeom prst="rect">
            <a:avLst/>
          </a:prstGeom>
          <a:solidFill>
            <a:srgbClr val="5B9BD1"/>
          </a:solidFill>
          <a:ln/>
        </p:spPr>
      </p:sp>
      <p:sp>
        <p:nvSpPr>
          <p:cNvPr id="6" name="Text 3"/>
          <p:cNvSpPr/>
          <p:nvPr/>
        </p:nvSpPr>
        <p:spPr>
          <a:xfrm>
            <a:off x="1051560" y="4078224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38F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ratio is the product.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078992" y="495604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did not get a dashboard. She got the hour back.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2026-09-10T18:42:26Z</dcterms:created>
  <dcterms:modified xsi:type="dcterms:W3CDTF">2026-09-10T18:42:26Z</dcterms:modified>
</cp:coreProperties>
</file>